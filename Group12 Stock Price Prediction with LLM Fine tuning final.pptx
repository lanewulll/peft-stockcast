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265" r:id="rId3"/>
    <p:sldId id="259" r:id="rId4"/>
    <p:sldId id="267" r:id="rId5"/>
    <p:sldId id="269" r:id="rId6"/>
    <p:sldId id="268" r:id="rId7"/>
    <p:sldId id="266" r:id="rId8"/>
    <p:sldId id="270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94658"/>
  </p:normalViewPr>
  <p:slideViewPr>
    <p:cSldViewPr snapToGrid="0">
      <p:cViewPr varScale="1">
        <p:scale>
          <a:sx n="83" d="100"/>
          <a:sy n="83" d="100"/>
        </p:scale>
        <p:origin x="2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BF3C2-EBE0-4182-83B3-5F41867EE844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B6F8F-600D-4B42-9A75-19DAF7E56F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08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Mistral-7B + </a:t>
            </a:r>
            <a:r>
              <a:rPr lang="en-US" altLang="zh-CN" b="1" dirty="0" err="1"/>
              <a:t>LoRA</a:t>
            </a:r>
            <a:endParaRPr lang="en-US" altLang="zh-CN" b="1" dirty="0"/>
          </a:p>
          <a:p>
            <a:r>
              <a:rPr lang="en-US" altLang="zh-CN" sz="1050" b="1" dirty="0"/>
              <a:t>Key Takeaways</a:t>
            </a:r>
          </a:p>
          <a:p>
            <a:r>
              <a:rPr lang="en-US" altLang="zh-CN" sz="1050" dirty="0"/>
              <a:t>• </a:t>
            </a:r>
            <a:r>
              <a:rPr lang="en-US" altLang="zh-CN" b="1" dirty="0"/>
              <a:t>Best Generalization Ability</a:t>
            </a:r>
            <a:r>
              <a:rPr lang="en-US" altLang="zh-CN" dirty="0"/>
              <a:t>: Test MSE = 3.09, the best among the four methods, demonstrating strong generalization</a:t>
            </a:r>
          </a:p>
          <a:p>
            <a:r>
              <a:rPr lang="en-US" altLang="zh-CN" b="1" dirty="0"/>
              <a:t>Validation-Test Discrepancy</a:t>
            </a:r>
            <a:r>
              <a:rPr lang="en-US" altLang="zh-CN" dirty="0"/>
              <a:t>: Validation MSE is relatively high (0.85), but test performance is best, suggesting possible underfitting on validation set but strong generalization</a:t>
            </a:r>
          </a:p>
          <a:p>
            <a:r>
              <a:rPr lang="en-US" altLang="zh-CN" b="1" dirty="0"/>
              <a:t>Highest Resource Demand</a:t>
            </a:r>
            <a:r>
              <a:rPr lang="en-US" altLang="zh-CN" dirty="0"/>
              <a:t>: GPU memory usage is 13.7GB, due to the larger Mistral-7B base model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6F8F-600D-4B42-9A75-19DAF7E56F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69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417312" cy="1325563"/>
          </a:xfrm>
        </p:spPr>
        <p:txBody>
          <a:bodyPr/>
          <a:lstStyle>
            <a:lvl1pPr>
              <a:defRPr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406160" cy="1325563"/>
          </a:xfrm>
        </p:spPr>
        <p:txBody>
          <a:bodyPr/>
          <a:lstStyle>
            <a:lvl1pPr>
              <a:defRPr b="1">
                <a:solidFill>
                  <a:srgbClr val="B6000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743849"/>
            <a:ext cx="10515600" cy="10955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you!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B6000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482" y="1736726"/>
            <a:ext cx="10691668" cy="2852737"/>
          </a:xfrm>
        </p:spPr>
        <p:txBody>
          <a:bodyPr/>
          <a:lstStyle/>
          <a:p>
            <a:pPr algn="ctr"/>
            <a:r>
              <a:rPr lang="en-US" dirty="0"/>
              <a:t>Stock Price Prediction with </a:t>
            </a:r>
            <a:br>
              <a:rPr lang="en-US" dirty="0"/>
            </a:br>
            <a:r>
              <a:rPr lang="en-US" dirty="0"/>
              <a:t>LLM Fine 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106699"/>
            <a:ext cx="10515600" cy="1500187"/>
          </a:xfrm>
        </p:spPr>
        <p:txBody>
          <a:bodyPr/>
          <a:lstStyle/>
          <a:p>
            <a:r>
              <a:rPr lang="en-US" dirty="0"/>
              <a:t>By Group 12</a:t>
            </a:r>
          </a:p>
          <a:p>
            <a:r>
              <a:rPr lang="en-US" altLang="zh-CN" sz="2000" dirty="0"/>
              <a:t>LIU Yang; ZHU </a:t>
            </a:r>
            <a:r>
              <a:rPr lang="en-US" altLang="zh-CN" sz="2000" dirty="0" err="1"/>
              <a:t>Jingwen</a:t>
            </a:r>
            <a:r>
              <a:rPr lang="en-US" altLang="zh-CN" sz="2000" dirty="0"/>
              <a:t>; LI Keyu; LI Yingxuan; YANG Zhe; MENG </a:t>
            </a:r>
            <a:r>
              <a:rPr lang="en-US" altLang="zh-CN" sz="2000" dirty="0" err="1"/>
              <a:t>Sihao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4393-3C1F-878A-47A4-93EA851F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B32A-ECA0-BB2D-ECF8-7E7E5373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F06E-0085-6527-434B-D4FFC95C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52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Dataset A </a:t>
            </a:r>
            <a:r>
              <a:rPr lang="en-US" altLang="zh-CN" sz="2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Nvidia stock prices</a:t>
            </a:r>
          </a:p>
          <a:p>
            <a:pPr marL="0" indent="0">
              <a:buNone/>
            </a:pP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*Source: Yahoo Finance, Kaggle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*Time span: 2004/01/02 to 2023/12/29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*Rows: 5033 trading days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*Columns: Date, Open, High, Low, Close, Volume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*Preprocessing: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Sort by Date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Select features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Sliding window length 30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altLang="zh-CN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 is next day normal return</a:t>
            </a:r>
          </a:p>
          <a:p>
            <a:pPr marL="0" indent="0"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*Split: 80% train; 20% validation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C55B44-CE46-AC44-D8BA-A9B4509CA7B3}"/>
              </a:ext>
            </a:extLst>
          </p:cNvPr>
          <p:cNvSpPr txBox="1"/>
          <p:nvPr/>
        </p:nvSpPr>
        <p:spPr>
          <a:xfrm>
            <a:off x="6558030" y="1428452"/>
            <a:ext cx="479577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ambria" panose="02040503050406030204" pitchFamily="18" charset="0"/>
              </a:rPr>
              <a:t>Dataset B </a:t>
            </a:r>
            <a:r>
              <a:rPr lang="en-US" altLang="zh-CN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‘sample_test.csv’</a:t>
            </a:r>
          </a:p>
          <a:p>
            <a:endParaRPr lang="zh-CN" altLang="en-US" sz="2400" dirty="0">
              <a:latin typeface="Cambria" panose="02040503050406030204" pitchFamily="18" charset="0"/>
            </a:endParaRPr>
          </a:p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*</a:t>
            </a:r>
            <a:r>
              <a:rPr lang="zh-CN" altLang="en-US" sz="1900" dirty="0">
                <a:latin typeface="Cambria" panose="02040503050406030204" pitchFamily="18" charset="0"/>
              </a:rPr>
              <a:t>Separate stock time series</a:t>
            </a:r>
            <a:endParaRPr lang="en-US" altLang="zh-C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*</a:t>
            </a:r>
            <a:r>
              <a:rPr lang="zh-CN" altLang="en-US" sz="1900" dirty="0">
                <a:latin typeface="Cambria" panose="02040503050406030204" pitchFamily="18" charset="0"/>
              </a:rPr>
              <a:t>Same structure as Dataset A</a:t>
            </a:r>
            <a:endParaRPr lang="en-US" altLang="zh-C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*</a:t>
            </a:r>
            <a:r>
              <a:rPr lang="zh-CN" altLang="en-US" sz="1900" dirty="0">
                <a:latin typeface="Cambria" panose="02040503050406030204" pitchFamily="18" charset="0"/>
              </a:rPr>
              <a:t>30 input windows, horizon 3 days</a:t>
            </a:r>
            <a:endParaRPr lang="en-US" altLang="zh-C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*F</a:t>
            </a:r>
            <a:r>
              <a:rPr lang="zh-CN" altLang="en-US" sz="1900" dirty="0">
                <a:latin typeface="Cambria" panose="02040503050406030204" pitchFamily="18" charset="0"/>
              </a:rPr>
              <a:t>or </a:t>
            </a:r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zh-CN" altLang="en-US" sz="1900" dirty="0">
                <a:solidFill>
                  <a:srgbClr val="FF0000"/>
                </a:solidFill>
                <a:latin typeface="Cambria" panose="02040503050406030204" pitchFamily="18" charset="0"/>
              </a:rPr>
              <a:t>inal </a:t>
            </a:r>
            <a:r>
              <a:rPr lang="zh-CN" altLang="en-US" sz="1900" dirty="0">
                <a:latin typeface="Cambria" panose="02040503050406030204" pitchFamily="18" charset="0"/>
              </a:rPr>
              <a:t>three day RMSE</a:t>
            </a:r>
            <a:endParaRPr lang="en-US" altLang="zh-C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474763-E393-0667-64D6-A27F006B3820}"/>
              </a:ext>
            </a:extLst>
          </p:cNvPr>
          <p:cNvSpPr txBox="1"/>
          <p:nvPr/>
        </p:nvSpPr>
        <p:spPr>
          <a:xfrm>
            <a:off x="6558030" y="3429000"/>
            <a:ext cx="563397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</a:rPr>
              <a:t>Dataset A -&gt; train / </a:t>
            </a:r>
            <a:r>
              <a:rPr lang="en-US" altLang="zh-CN" sz="1900" dirty="0" err="1">
                <a:solidFill>
                  <a:srgbClr val="FF0000"/>
                </a:solidFill>
                <a:latin typeface="Cambria" panose="02040503050406030204" pitchFamily="18" charset="0"/>
              </a:rPr>
              <a:t>val</a:t>
            </a:r>
            <a:endParaRPr lang="en-US" altLang="zh-CN" sz="1900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</a:rPr>
              <a:t>Dataset B -&gt; test	</a:t>
            </a:r>
            <a:r>
              <a:rPr lang="en-US" altLang="zh-CN" sz="1900" dirty="0">
                <a:latin typeface="Cambria" panose="02040503050406030204" pitchFamily="18" charset="0"/>
              </a:rPr>
              <a:t>	</a:t>
            </a:r>
            <a:r>
              <a:rPr lang="fr-FR" altLang="zh-CN" sz="1900" dirty="0">
                <a:latin typeface="Cambria" panose="02040503050406030204" pitchFamily="18" charset="0"/>
              </a:rPr>
              <a:t> </a:t>
            </a:r>
          </a:p>
          <a:p>
            <a:r>
              <a:rPr lang="fr-FR" altLang="zh-CN" sz="1900" dirty="0">
                <a:latin typeface="Cambria" panose="02040503050406030204" pitchFamily="18" charset="0"/>
              </a:rPr>
              <a:t>Train / Val / Test ≈ 79:20:1</a:t>
            </a:r>
            <a:endParaRPr lang="en-US" altLang="zh-CN" sz="1900" dirty="0">
              <a:latin typeface="Cambria" panose="02040503050406030204" pitchFamily="18" charset="0"/>
            </a:endParaRPr>
          </a:p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85312B-36BB-180F-AB08-2569D51F86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400" y="4667827"/>
            <a:ext cx="5120229" cy="17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6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51EF0A-8112-B39B-D72D-36880F7D2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87" y="1027906"/>
            <a:ext cx="6841305" cy="55504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3996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Sliding window and LLM regression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0E42C1A-3BDA-A941-8D26-EFFF7113C52D}"/>
              </a:ext>
            </a:extLst>
          </p:cNvPr>
          <p:cNvSpPr/>
          <p:nvPr/>
        </p:nvSpPr>
        <p:spPr>
          <a:xfrm>
            <a:off x="5376930" y="2353469"/>
            <a:ext cx="2949261" cy="31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C493A3-661D-FCFE-DD6F-042E5BCB31E3}"/>
              </a:ext>
            </a:extLst>
          </p:cNvPr>
          <p:cNvSpPr txBox="1"/>
          <p:nvPr/>
        </p:nvSpPr>
        <p:spPr>
          <a:xfrm>
            <a:off x="8538693" y="2189408"/>
            <a:ext cx="25950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Linear sliding windows</a:t>
            </a:r>
          </a:p>
          <a:p>
            <a:r>
              <a:rPr lang="en-US" altLang="zh-CN" sz="19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window_size</a:t>
            </a:r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30</a:t>
            </a:r>
            <a:endParaRPr lang="zh-CN" altLang="en-US" sz="19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F5240013-844D-4DE3-A8F5-DB14327902EC}"/>
              </a:ext>
            </a:extLst>
          </p:cNvPr>
          <p:cNvSpPr/>
          <p:nvPr/>
        </p:nvSpPr>
        <p:spPr>
          <a:xfrm>
            <a:off x="6948151" y="3331783"/>
            <a:ext cx="1378039" cy="31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94352-ACAB-1946-8910-C3C92405CE57}"/>
              </a:ext>
            </a:extLst>
          </p:cNvPr>
          <p:cNvSpPr txBox="1"/>
          <p:nvPr/>
        </p:nvSpPr>
        <p:spPr>
          <a:xfrm>
            <a:off x="8512935" y="3161316"/>
            <a:ext cx="310380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Normalization target:</a:t>
            </a:r>
          </a:p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used as the </a:t>
            </a:r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 label </a:t>
            </a:r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for LLM regression</a:t>
            </a:r>
            <a:endParaRPr lang="zh-CN" altLang="en-US" sz="1900" dirty="0">
              <a:latin typeface="Cambria" panose="02040503050406030204" pitchFamily="18" charset="0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E264D829-85CA-7DE4-1A9E-0B073249352C}"/>
              </a:ext>
            </a:extLst>
          </p:cNvPr>
          <p:cNvSpPr/>
          <p:nvPr/>
        </p:nvSpPr>
        <p:spPr>
          <a:xfrm>
            <a:off x="5376929" y="5397176"/>
            <a:ext cx="2949261" cy="31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2BE4BE-D1A4-0D43-C860-5E571FEAB7C6}"/>
              </a:ext>
            </a:extLst>
          </p:cNvPr>
          <p:cNvSpPr txBox="1"/>
          <p:nvPr/>
        </p:nvSpPr>
        <p:spPr>
          <a:xfrm>
            <a:off x="8538693" y="5116692"/>
            <a:ext cx="320684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00" dirty="0">
                <a:latin typeface="Cambria" panose="02040503050406030204" pitchFamily="18" charset="0"/>
                <a:ea typeface="Cambria" panose="02040503050406030204" pitchFamily="18" charset="0"/>
              </a:rPr>
              <a:t>Denormalization converts the predicted return back to the </a:t>
            </a:r>
            <a:r>
              <a:rPr lang="en-US" altLang="zh-CN" sz="19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3F1A9-3B41-43E1-D9EC-7AFBF665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650" y="-2407"/>
            <a:ext cx="8417312" cy="1325563"/>
          </a:xfrm>
        </p:spPr>
        <p:txBody>
          <a:bodyPr>
            <a:normAutofit/>
          </a:bodyPr>
          <a:lstStyle/>
          <a:p>
            <a:r>
              <a:rPr lang="it-IT" altLang="zh-CN" sz="4000" dirty="0"/>
              <a:t>LORA model based on Mistral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36C47E-FCC3-D85D-943C-2FF6CEC5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457" y="1001318"/>
            <a:ext cx="10515600" cy="4760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b="1" dirty="0"/>
              <a:t>From Text Generation to Regression Prediction: Mistral-7B + </a:t>
            </a:r>
            <a:r>
              <a:rPr lang="en-US" altLang="zh-CN" sz="1600" b="1" dirty="0" err="1"/>
              <a:t>LoRA</a:t>
            </a:r>
            <a:r>
              <a:rPr lang="en-US" altLang="zh-CN" sz="1600" b="1" dirty="0"/>
              <a:t> in Practice on NVDA Stock Price</a:t>
            </a:r>
            <a:endParaRPr lang="en-US" altLang="zh-CN" sz="1400" dirty="0"/>
          </a:p>
          <a:p>
            <a:r>
              <a:rPr lang="en-US" altLang="zh-CN" sz="1400" dirty="0"/>
              <a:t>Attach a lightweight linear regression head to the last hidden state.</a:t>
            </a:r>
          </a:p>
          <a:p>
            <a:endParaRPr lang="en-US" altLang="zh-CN" sz="1400" dirty="0"/>
          </a:p>
          <a:p>
            <a:r>
              <a:rPr lang="en-US" altLang="zh-CN" sz="1400" dirty="0"/>
              <a:t>Directly output the numerical prediction results.</a:t>
            </a:r>
          </a:p>
          <a:p>
            <a:pPr marL="0" indent="0">
              <a:buNone/>
            </a:pPr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9ADC89-BE1D-28F3-34F4-EA3B4D8CF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11" y="4019409"/>
            <a:ext cx="3130870" cy="2684253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201655-FE82-3E4C-5232-3FD73B0DD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35952"/>
              </p:ext>
            </p:extLst>
          </p:nvPr>
        </p:nvGraphicFramePr>
        <p:xfrm>
          <a:off x="702748" y="2530460"/>
          <a:ext cx="3255548" cy="2211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774">
                  <a:extLst>
                    <a:ext uri="{9D8B030D-6E8A-4147-A177-3AD203B41FA5}">
                      <a16:colId xmlns:a16="http://schemas.microsoft.com/office/drawing/2014/main" val="3694582578"/>
                    </a:ext>
                  </a:extLst>
                </a:gridCol>
                <a:gridCol w="1627774">
                  <a:extLst>
                    <a:ext uri="{9D8B030D-6E8A-4147-A177-3AD203B41FA5}">
                      <a16:colId xmlns:a16="http://schemas.microsoft.com/office/drawing/2014/main" val="3820003372"/>
                    </a:ext>
                  </a:extLst>
                </a:gridCol>
              </a:tblGrid>
              <a:tr h="33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Configuration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Setting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977201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Window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30 trading-day 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582631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69748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dirty="0"/>
                        <a:t>2 × 10⁻⁴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445798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Total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3 (≈ 6003 steps)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94701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Huber Loss (Smooth L1)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907787"/>
                  </a:ext>
                </a:extLst>
              </a:tr>
              <a:tr h="312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Peak GPU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≈ 13.7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424879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DB28EE36-1D8E-B839-4333-5B7500E7E0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951" y="1718535"/>
            <a:ext cx="2818304" cy="209657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82A5692-0996-FFE6-FBB0-F6B45CDDEA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951" y="4312046"/>
            <a:ext cx="2904676" cy="216083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18F63BC-8DF2-F074-AE99-2D19783380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732" y="1718535"/>
            <a:ext cx="2904676" cy="2160833"/>
          </a:xfrm>
          <a:prstGeom prst="rect">
            <a:avLst/>
          </a:prstGeom>
        </p:spPr>
      </p:pic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2D6FDC4D-F611-EEAA-7E6E-1B5CD9636C2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41273" y="5779483"/>
            <a:ext cx="1607793" cy="6441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9AD6950-9EC3-38C1-1CD9-39F84F5D8D96}"/>
              </a:ext>
            </a:extLst>
          </p:cNvPr>
          <p:cNvSpPr txBox="1"/>
          <p:nvPr/>
        </p:nvSpPr>
        <p:spPr>
          <a:xfrm>
            <a:off x="606494" y="5118018"/>
            <a:ext cx="3448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Notes: This linear regression head is a unified configuration for all models (based on the initial code framework) and is not exclusive to </a:t>
            </a:r>
            <a:r>
              <a:rPr lang="en-US" altLang="zh-CN" dirty="0" err="1"/>
              <a:t>lora_mistral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748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FA335-F2EE-9CDF-3220-EE67A0A5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83" y="0"/>
            <a:ext cx="8417312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About other three GPT-2 models</a:t>
            </a:r>
            <a:endParaRPr lang="zh-CN" altLang="en-US" sz="4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CC37F5-B89F-6634-7EA6-18E4554F7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3" y="997928"/>
            <a:ext cx="2519304" cy="19695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24A2458-D621-D625-3304-4493880E4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188" y="1012528"/>
            <a:ext cx="2592892" cy="19695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9F7D0E-0ADB-B676-999C-4CC85BF14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691" y="984795"/>
            <a:ext cx="2570964" cy="19826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E3FF65-4023-5618-2636-5E5C9F7DF0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7" y="2967488"/>
            <a:ext cx="4110748" cy="20304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0F7E09E-237C-95F5-7B82-266A59F8BD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475" y="3087270"/>
            <a:ext cx="3868239" cy="19106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564D7FB-15D5-22C2-DB08-19B140E6F1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714" y="3087270"/>
            <a:ext cx="3868239" cy="191062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4391412-5AE8-A483-A41E-8C771FB3ECC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3" y="4998683"/>
            <a:ext cx="2499366" cy="185931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C7A33E6-FA52-7EF4-7EEA-68AB64CB470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756" y="4997898"/>
            <a:ext cx="2479324" cy="184343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89C20C8-5DD3-50AE-1CF8-F8273267D29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783" y="5063002"/>
            <a:ext cx="2326444" cy="173067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D84734E-25B2-D327-7000-6FA745DED906}"/>
              </a:ext>
            </a:extLst>
          </p:cNvPr>
          <p:cNvSpPr txBox="1"/>
          <p:nvPr/>
        </p:nvSpPr>
        <p:spPr>
          <a:xfrm>
            <a:off x="8614913" y="1837085"/>
            <a:ext cx="273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Prompt</a:t>
            </a:r>
            <a:r>
              <a:rPr lang="en-US" altLang="zh-CN" dirty="0"/>
              <a:t> </a:t>
            </a:r>
            <a:r>
              <a:rPr lang="en-US" altLang="zh-CN" b="1" dirty="0"/>
              <a:t>Tuning + Huber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2B2C04-6496-83D0-264B-95DE2D60F693}"/>
              </a:ext>
            </a:extLst>
          </p:cNvPr>
          <p:cNvSpPr txBox="1"/>
          <p:nvPr/>
        </p:nvSpPr>
        <p:spPr>
          <a:xfrm>
            <a:off x="8614913" y="284271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IA³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D09C8B6-C25E-4391-6FC0-FDAF1094CD8F}"/>
              </a:ext>
            </a:extLst>
          </p:cNvPr>
          <p:cNvSpPr txBox="1"/>
          <p:nvPr/>
        </p:nvSpPr>
        <p:spPr>
          <a:xfrm>
            <a:off x="8614913" y="550941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LoRA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668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D9BD887-FC92-6C52-9A9E-2679C2FB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124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Comparison of results from four models</a:t>
            </a:r>
            <a:endParaRPr lang="zh-CN" altLang="en-US" sz="3600" dirty="0"/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85C16874-6DD4-9E40-E2D4-E76E63BBDA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696583"/>
              </p:ext>
            </p:extLst>
          </p:nvPr>
        </p:nvGraphicFramePr>
        <p:xfrm>
          <a:off x="925902" y="1471084"/>
          <a:ext cx="8195095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419">
                  <a:extLst>
                    <a:ext uri="{9D8B030D-6E8A-4147-A177-3AD203B41FA5}">
                      <a16:colId xmlns:a16="http://schemas.microsoft.com/office/drawing/2014/main" val="2081063367"/>
                    </a:ext>
                  </a:extLst>
                </a:gridCol>
                <a:gridCol w="1755878">
                  <a:extLst>
                    <a:ext uri="{9D8B030D-6E8A-4147-A177-3AD203B41FA5}">
                      <a16:colId xmlns:a16="http://schemas.microsoft.com/office/drawing/2014/main" val="2910159360"/>
                    </a:ext>
                  </a:extLst>
                </a:gridCol>
                <a:gridCol w="1850399">
                  <a:extLst>
                    <a:ext uri="{9D8B030D-6E8A-4147-A177-3AD203B41FA5}">
                      <a16:colId xmlns:a16="http://schemas.microsoft.com/office/drawing/2014/main" val="827383148"/>
                    </a:ext>
                  </a:extLst>
                </a:gridCol>
                <a:gridCol w="1850399">
                  <a:extLst>
                    <a:ext uri="{9D8B030D-6E8A-4147-A177-3AD203B41FA5}">
                      <a16:colId xmlns:a16="http://schemas.microsoft.com/office/drawing/2014/main" val="2124819610"/>
                    </a:ext>
                  </a:extLst>
                </a:gridCol>
              </a:tblGrid>
              <a:tr h="15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Model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Val_mse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Test_mse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Gpu_peak_value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918379"/>
                  </a:ext>
                </a:extLst>
              </a:tr>
              <a:tr h="1519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dirty="0"/>
                        <a:t>Prompt Tuning (GPT-2)</a:t>
                      </a:r>
                      <a:endParaRPr lang="en-US" altLang="zh-CN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5..5GB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608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IA³ (GPT-2)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16.86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5.7GB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553859"/>
                  </a:ext>
                </a:extLst>
              </a:tr>
              <a:tr h="15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LoRA (Mistral-7B)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13.7GB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7660"/>
                  </a:ext>
                </a:extLst>
              </a:tr>
              <a:tr h="15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LoRA</a:t>
                      </a:r>
                      <a:r>
                        <a:rPr lang="en-US" sz="1100" b="1" dirty="0"/>
                        <a:t> (GPT-2)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100" dirty="0"/>
                        <a:t>6.0GB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982758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0F4F286-EF3A-8E88-B268-11623D641214}"/>
              </a:ext>
            </a:extLst>
          </p:cNvPr>
          <p:cNvSpPr txBox="1"/>
          <p:nvPr/>
        </p:nvSpPr>
        <p:spPr>
          <a:xfrm>
            <a:off x="7493479" y="400265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2DADCB-3FD7-B3FB-3ADF-638316E22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05" y="3135702"/>
            <a:ext cx="5145215" cy="32857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86481E-1191-00A5-5C8A-4A9203DAC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646" y="3054608"/>
            <a:ext cx="6257187" cy="318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5167C-EC38-4077-5FCE-644E094F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263389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Conclusion and Future directions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5AB61-B376-16A7-227A-98D6B739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74" y="1471747"/>
            <a:ext cx="1099748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Cambria" panose="02040503050406030204" pitchFamily="18" charset="0"/>
              </a:rPr>
              <a:t>What we did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1. LLM as a </a:t>
            </a:r>
            <a:r>
              <a:rPr lang="en-US" altLang="zh-CN" sz="1800" dirty="0">
                <a:solidFill>
                  <a:srgbClr val="FF0000"/>
                </a:solidFill>
                <a:latin typeface="Cambria" panose="02040503050406030204" pitchFamily="18" charset="0"/>
              </a:rPr>
              <a:t>regression engine </a:t>
            </a:r>
            <a:r>
              <a:rPr lang="en-US" altLang="zh-CN" sz="1800" dirty="0">
                <a:latin typeface="Cambria" panose="02040503050406030204" pitchFamily="18" charset="0"/>
              </a:rPr>
              <a:t>for stocks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       Turn Mistral into a regression model by adding a small linear head on the last hidden state.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2. </a:t>
            </a:r>
            <a:r>
              <a:rPr lang="en-US" altLang="zh-CN" sz="1800" dirty="0">
                <a:solidFill>
                  <a:srgbClr val="FF0000"/>
                </a:solidFill>
                <a:latin typeface="Cambria" panose="02040503050406030204" pitchFamily="18" charset="0"/>
              </a:rPr>
              <a:t>Unified comparison </a:t>
            </a:r>
            <a:r>
              <a:rPr lang="en-US" altLang="zh-CN" sz="1800" dirty="0">
                <a:latin typeface="Cambria" panose="02040503050406030204" pitchFamily="18" charset="0"/>
              </a:rPr>
              <a:t>of three PEFT methods on two backbones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       Evaluate </a:t>
            </a:r>
            <a:r>
              <a:rPr lang="en-US" altLang="zh-CN" sz="1800" dirty="0" err="1">
                <a:latin typeface="Cambria" panose="02040503050406030204" pitchFamily="18" charset="0"/>
              </a:rPr>
              <a:t>LoRA</a:t>
            </a:r>
            <a:r>
              <a:rPr lang="en-US" altLang="zh-CN" sz="1800" dirty="0">
                <a:latin typeface="Cambria" panose="02040503050406030204" pitchFamily="18" charset="0"/>
              </a:rPr>
              <a:t>(Mistral 7B), </a:t>
            </a:r>
            <a:r>
              <a:rPr lang="en-US" altLang="zh-CN" sz="1800" dirty="0" err="1">
                <a:latin typeface="Cambria" panose="02040503050406030204" pitchFamily="18" charset="0"/>
              </a:rPr>
              <a:t>LoRA</a:t>
            </a:r>
            <a:r>
              <a:rPr lang="en-US" altLang="zh-CN" sz="1800" dirty="0">
                <a:latin typeface="Cambria" panose="02040503050406030204" pitchFamily="18" charset="0"/>
              </a:rPr>
              <a:t>(GPT2), IA³(GPT2) and Prompt tuning(GPT2) .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3. </a:t>
            </a:r>
            <a:r>
              <a:rPr lang="en-US" altLang="zh-CN" sz="1800" dirty="0">
                <a:solidFill>
                  <a:srgbClr val="FF0000"/>
                </a:solidFill>
                <a:latin typeface="Cambria" panose="02040503050406030204" pitchFamily="18" charset="0"/>
              </a:rPr>
              <a:t>Reusable</a:t>
            </a:r>
            <a:r>
              <a:rPr lang="en-US" altLang="zh-CN" sz="1800" dirty="0">
                <a:latin typeface="Cambria" panose="02040503050406030204" pitchFamily="18" charset="0"/>
              </a:rPr>
              <a:t> training and testing scripts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       Standardize 'train _normalize.py’ and 'test.py’ so any future model can plug into this framework easily.</a:t>
            </a:r>
          </a:p>
          <a:p>
            <a:pPr marL="0" indent="0">
              <a:buNone/>
            </a:pPr>
            <a:endParaRPr lang="en-US" altLang="zh-CN" sz="18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ambria" panose="02040503050406030204" pitchFamily="18" charset="0"/>
              </a:rPr>
              <a:t>What could be improved next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1.  Train on multiple stocks and richer targets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2.  Improve multi step forecasting head</a:t>
            </a:r>
          </a:p>
          <a:p>
            <a:pPr marL="0" indent="0">
              <a:buNone/>
            </a:pPr>
            <a:r>
              <a:rPr lang="en-US" altLang="zh-CN" sz="1800" dirty="0">
                <a:latin typeface="Cambria" panose="02040503050406030204" pitchFamily="18" charset="0"/>
              </a:rPr>
              <a:t>3.  More realistic evaluation metrics: MAPE, direction accuracy</a:t>
            </a:r>
            <a:endParaRPr lang="zh-CN" altLang="en-US" sz="1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8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74583-673F-8BA5-E32E-8D669E5E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Statement of contribution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913D6-0BC4-DD1C-7F63-9381913D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ambria" panose="02040503050406030204" pitchFamily="18" charset="0"/>
              </a:rPr>
              <a:t>Li Keyu is responsible for selecting the base LLM model and training dataset, designing the network architecture for stock price prediction, and writing the </a:t>
            </a:r>
            <a:r>
              <a:rPr lang="en-US" altLang="zh-CN" sz="1800" dirty="0" err="1">
                <a:latin typeface="Cambria" panose="02040503050406030204" pitchFamily="18" charset="0"/>
              </a:rPr>
              <a:t>LoRA</a:t>
            </a:r>
            <a:r>
              <a:rPr lang="en-US" altLang="zh-CN" sz="1800" dirty="0">
                <a:latin typeface="Cambria" panose="02040503050406030204" pitchFamily="18" charset="0"/>
              </a:rPr>
              <a:t> finetuning code. She also prepared the experiment report and code documentation.</a:t>
            </a:r>
          </a:p>
          <a:p>
            <a:r>
              <a:rPr lang="en-US" altLang="zh-CN" sz="1800" dirty="0">
                <a:latin typeface="Cambria" panose="02040503050406030204" pitchFamily="18" charset="0"/>
              </a:rPr>
              <a:t>LIU Yang implemented the </a:t>
            </a:r>
            <a:r>
              <a:rPr lang="en-US" altLang="zh-CN" sz="1800" dirty="0" err="1">
                <a:latin typeface="Cambria" panose="02040503050406030204" pitchFamily="18" charset="0"/>
              </a:rPr>
              <a:t>LoRA</a:t>
            </a:r>
            <a:r>
              <a:rPr lang="en-US" altLang="zh-CN" sz="1800" dirty="0">
                <a:latin typeface="Cambria" panose="02040503050406030204" pitchFamily="18" charset="0"/>
              </a:rPr>
              <a:t> GPT2 model, debugged the code, and produced the corresponding experimental results.</a:t>
            </a:r>
          </a:p>
          <a:p>
            <a:r>
              <a:rPr lang="en-US" altLang="zh-CN" sz="1800" dirty="0">
                <a:latin typeface="Cambria" panose="02040503050406030204" pitchFamily="18" charset="0"/>
              </a:rPr>
              <a:t>ZHU </a:t>
            </a:r>
            <a:r>
              <a:rPr lang="en-US" altLang="zh-CN" sz="1800" dirty="0" err="1">
                <a:latin typeface="Cambria" panose="02040503050406030204" pitchFamily="18" charset="0"/>
              </a:rPr>
              <a:t>Jingwen</a:t>
            </a:r>
            <a:r>
              <a:rPr lang="en-US" altLang="zh-CN" sz="1800" dirty="0">
                <a:latin typeface="Cambria" panose="02040503050406030204" pitchFamily="18" charset="0"/>
              </a:rPr>
              <a:t> implemented the IA³ GPT2 model, ran experiments, and followed up on additional runs and refinements.</a:t>
            </a:r>
          </a:p>
          <a:p>
            <a:r>
              <a:rPr lang="en-US" altLang="zh-CN" sz="1800" dirty="0">
                <a:latin typeface="Cambria" panose="02040503050406030204" pitchFamily="18" charset="0"/>
              </a:rPr>
              <a:t>MENG </a:t>
            </a:r>
            <a:r>
              <a:rPr lang="en-US" altLang="zh-CN" sz="1800" dirty="0" err="1">
                <a:latin typeface="Cambria" panose="02040503050406030204" pitchFamily="18" charset="0"/>
              </a:rPr>
              <a:t>Sihao</a:t>
            </a:r>
            <a:r>
              <a:rPr lang="en-US" altLang="zh-CN" sz="1800" dirty="0">
                <a:latin typeface="Cambria" panose="02040503050406030204" pitchFamily="18" charset="0"/>
              </a:rPr>
              <a:t> built the Prompt Tuning GPT2 model and conducted experiments with different loss functions.</a:t>
            </a:r>
          </a:p>
          <a:p>
            <a:r>
              <a:rPr lang="en-US" altLang="zh-CN" sz="1800" dirty="0">
                <a:latin typeface="Cambria" panose="02040503050406030204" pitchFamily="18" charset="0"/>
              </a:rPr>
              <a:t>LI Yingxuan prepared the slides, organized the experimental statistics, and participated in the final presentation.</a:t>
            </a:r>
          </a:p>
          <a:p>
            <a:r>
              <a:rPr lang="en-US" altLang="zh-CN" sz="1800" dirty="0">
                <a:latin typeface="Cambria" panose="02040503050406030204" pitchFamily="18" charset="0"/>
              </a:rPr>
              <a:t>YANG Zhe prepared the slides, visualized the results, aggregated data, and joined the presentation.</a:t>
            </a:r>
            <a:endParaRPr lang="zh-CN" altLang="en-US" sz="1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1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695</Words>
  <Application>Microsoft Office PowerPoint</Application>
  <PresentationFormat>宽屏</PresentationFormat>
  <Paragraphs>104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Cambria</vt:lpstr>
      <vt:lpstr>Office Theme</vt:lpstr>
      <vt:lpstr>Stock Price Prediction with  LLM Fine tuning</vt:lpstr>
      <vt:lpstr>Dataset</vt:lpstr>
      <vt:lpstr>Sliding window and LLM regression</vt:lpstr>
      <vt:lpstr>LORA model based on Mistral</vt:lpstr>
      <vt:lpstr>About other three GPT-2 models</vt:lpstr>
      <vt:lpstr>Comparison of results from four models</vt:lpstr>
      <vt:lpstr>Conclusion and Future directions</vt:lpstr>
      <vt:lpstr>Statement of contribution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LAM</dc:creator>
  <cp:lastModifiedBy>ovo Len</cp:lastModifiedBy>
  <cp:revision>14</cp:revision>
  <dcterms:created xsi:type="dcterms:W3CDTF">2025-01-21T13:24:00Z</dcterms:created>
  <dcterms:modified xsi:type="dcterms:W3CDTF">2025-12-04T03:16:48Z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00B430D29ACB4B869A76746173496D9A_13</vt:lpwstr>
  </property>
  <property fmtid="{D5CDD505-2E9C-101B-9397-08002B2CF9AE}" pid="3" name="KSOProductBuildVer">
    <vt:lpwstr>2052-12.1.0.23542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2025-12-03T16:41:19Z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7b11b6fd-ecdd-4ca7-a5f7-55295a50717d</vt:lpwstr>
  </property>
  <property fmtid="{D5CDD505-2E9C-101B-9397-08002B2CF9AE}" pid="9" name="MSIP_Label_defa4170-0d19-0005-0004-bc88714345d2_ActionId">
    <vt:lpwstr>dc8a775b-f7c1-4471-ad07-0b095662d4ee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10, 3, 0, 1</vt:lpwstr>
  </property>
</Properties>
</file>